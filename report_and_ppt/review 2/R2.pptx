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00D05-D64B-4B26-8645-73FFE0530FBE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8422A-1EF3-4659-B35B-3579AACF4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5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0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BD86-E399-CF9D-162F-B3D2540C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716C2-C562-1240-129F-14AC7DE22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0E2D7-7555-D150-9A92-A205BC907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F097F-730F-DE6C-C2ED-605B2619C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6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CE8B-1E0A-6F1B-2C74-E3C7664C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BCD76-DA05-1185-C5B4-41F60BD81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2593D-247A-68A7-E6B0-177E802D0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F4D9C-94B0-13CF-6B1C-0A0746DE3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21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9697-C064-8266-C132-21EC07DD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4ADF8-3BEB-22AE-891C-981E3604F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6C0D5-8EAA-13D2-DF10-CFDE55281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90A98-0FF9-F1AB-81FA-C7C5EAFCE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18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1B7A1-02B0-53C5-AC85-44AD9287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25D07-3E20-7312-02A7-D532B90A5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0E339-0136-AEF5-3000-29B3C07FF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CB928-0749-A95A-E274-0F01602C0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60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8E472-D602-5F4D-B7FE-F17D6050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2A434-A73E-33C2-D04A-0B60AC494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2AE4B-0DE6-C8DF-23E9-C1238A356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49C8E-B7F2-9F39-1972-92588A128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22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FE10-4C27-938B-26D9-E87FBF75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F1EDD-D2A2-5D5C-C29D-78C99E7B5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CBD2-0D40-0536-E0DE-69BB4C41C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62941-E51C-DAC7-51CD-0983BFE95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8422A-1EF3-4659-B35B-3579AACF4A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36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1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42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28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03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0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5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91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07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73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57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74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5EEB8-E1AF-425F-BC9A-124B22783B78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A58C8-30B7-4047-A7CE-45788F2FF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506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9076" y="229611"/>
            <a:ext cx="8503260" cy="1677846"/>
          </a:xfrm>
        </p:spPr>
        <p:txBody>
          <a:bodyPr>
            <a:normAutofit/>
          </a:bodyPr>
          <a:lstStyle/>
          <a:p>
            <a:r>
              <a:rPr lang="en-IN" sz="4000" b="1" dirty="0"/>
              <a:t>KL Deemed to be University</a:t>
            </a:r>
            <a:br>
              <a:rPr lang="en-IN" sz="4000" b="1" dirty="0"/>
            </a:br>
            <a:r>
              <a:rPr lang="en-IN" sz="4000" b="1" dirty="0"/>
              <a:t>Aziz Nagar Campus</a:t>
            </a:r>
            <a:br>
              <a:rPr lang="en-IN" b="1" dirty="0"/>
            </a:br>
            <a:r>
              <a:rPr lang="en-IN" sz="3200" b="1" dirty="0"/>
              <a:t>Department of ECE</a:t>
            </a:r>
            <a:endParaRPr lang="en-IN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944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Review</a:t>
            </a:r>
          </a:p>
          <a:p>
            <a:endParaRPr lang="en-IN" dirty="0"/>
          </a:p>
          <a:p>
            <a:r>
              <a:rPr lang="en-IN" dirty="0"/>
              <a:t>MD Sameer Ahmed - 2310040004 </a:t>
            </a:r>
          </a:p>
          <a:p>
            <a:r>
              <a:rPr lang="en-IN" dirty="0"/>
              <a:t>Sayooj S - 2310040095 </a:t>
            </a:r>
          </a:p>
          <a:p>
            <a:endParaRPr lang="en-IN" dirty="0"/>
          </a:p>
          <a:p>
            <a:r>
              <a:rPr lang="en-IN" dirty="0"/>
              <a:t>Supervised by:</a:t>
            </a:r>
          </a:p>
          <a:p>
            <a:r>
              <a:rPr lang="en-IN" dirty="0"/>
              <a:t>Dr. B Anil Kumar, Assoc. </a:t>
            </a:r>
            <a:r>
              <a:rPr lang="en-IN" dirty="0" err="1"/>
              <a:t>Prof.</a:t>
            </a:r>
            <a:r>
              <a:rPr lang="en-IN" dirty="0"/>
              <a:t>/ECE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1" y="82428"/>
            <a:ext cx="1926615" cy="825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C8A527-D9C0-E2E9-8A71-1CB2DCA6DA49}"/>
              </a:ext>
            </a:extLst>
          </p:cNvPr>
          <p:cNvSpPr txBox="1"/>
          <p:nvPr/>
        </p:nvSpPr>
        <p:spPr>
          <a:xfrm>
            <a:off x="1317521" y="2474893"/>
            <a:ext cx="9842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2800" dirty="0"/>
              <a:t>Design and Evaluation of a Configurable AI Acceleration Extension for an Embedded RISC-V Processor on FPGA</a:t>
            </a:r>
            <a:endParaRPr lang="en-IN" sz="2800" u="sng" dirty="0"/>
          </a:p>
        </p:txBody>
      </p:sp>
    </p:spTree>
    <p:extLst>
      <p:ext uri="{BB962C8B-B14F-4D97-AF65-F5344CB8AC3E}">
        <p14:creationId xmlns:p14="http://schemas.microsoft.com/office/powerpoint/2010/main" val="55221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Introduction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Edge AI applications require efficient processors for fast, low-power computation on embedded devices.</a:t>
            </a:r>
          </a:p>
          <a:p>
            <a:endParaRPr lang="en-US" b="1" u="sng" dirty="0"/>
          </a:p>
          <a:p>
            <a:r>
              <a:rPr lang="en-US" dirty="0"/>
              <a:t>RISC-V enables customizable processor architectures through flexible instruction set extensions and open-source designs.</a:t>
            </a:r>
          </a:p>
          <a:p>
            <a:endParaRPr lang="en-US" b="1" u="sng" dirty="0"/>
          </a:p>
          <a:p>
            <a:r>
              <a:rPr lang="en-US" dirty="0"/>
              <a:t>This project develops a configurable FPGA-based AI accelerator integrated with a PicoRV32 RISC-V processor. 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A37961-58D5-7315-0C1E-5B8DDA5ECE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5EF6C-49A8-8506-E930-F8AE28A2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248B9-95FC-9926-C988-B79FCF550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Problem Statement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Embedded RISC-V processors execute AI workloads with high latency and limited computational efficiency.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Software execution of matrix operations increases execution cycles, power consumption, and processing time.</a:t>
            </a:r>
          </a:p>
          <a:p>
            <a:endParaRPr lang="en-US" b="1" u="sng" dirty="0"/>
          </a:p>
          <a:p>
            <a:r>
              <a:rPr lang="en-US" dirty="0"/>
              <a:t>Configurable hardware acceleration is required for efficient AI processing in embedded systems.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AAC9F-0B7A-C90C-FF54-6773A24233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3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1F41-C265-4A75-42DE-77BCB996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F1817-2BE8-BD3E-AC45-4DC3F5E45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Objectives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Design a </a:t>
            </a:r>
            <a:r>
              <a:rPr lang="en-US" b="1" dirty="0"/>
              <a:t>configurable MAC-based AI accelerator</a:t>
            </a:r>
            <a:r>
              <a:rPr lang="en-US" dirty="0"/>
              <a:t> integrated with the PicoRV32 RISC-V processor.</a:t>
            </a:r>
          </a:p>
          <a:p>
            <a:endParaRPr lang="en-US" b="1" u="sng" dirty="0"/>
          </a:p>
          <a:p>
            <a:r>
              <a:rPr lang="en-US" dirty="0"/>
              <a:t>Implement custom instructions including </a:t>
            </a:r>
            <a:r>
              <a:rPr lang="en-US" b="1" dirty="0"/>
              <a:t>MATMUL, CONV, MAC, DOT, LOAD_TILE, STORE_TILE and WAIT</a:t>
            </a:r>
            <a:r>
              <a:rPr lang="en-US" dirty="0"/>
              <a:t>.</a:t>
            </a:r>
          </a:p>
          <a:p>
            <a:endParaRPr lang="en-US" b="1" u="sng" dirty="0"/>
          </a:p>
          <a:p>
            <a:r>
              <a:rPr lang="en-US" dirty="0"/>
              <a:t>Evaluate </a:t>
            </a:r>
            <a:r>
              <a:rPr lang="en-US" b="1" dirty="0"/>
              <a:t>performance, area, clock frequency and power</a:t>
            </a:r>
            <a:r>
              <a:rPr lang="en-US" dirty="0"/>
              <a:t> across 2/4/8-MAC configurations and different operand widths.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B65C9F-0188-CCCF-5101-78178035D3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1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FA90-97D3-2553-B829-AE8DCA40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0A3D6-8BB3-F846-DC79-E2304D8F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Scope of the Project :</a:t>
            </a:r>
          </a:p>
          <a:p>
            <a:pPr marL="0" indent="0">
              <a:buNone/>
            </a:pPr>
            <a:endParaRPr lang="en-IN" b="1" u="sng" dirty="0"/>
          </a:p>
          <a:p>
            <a:r>
              <a:rPr lang="en-US" dirty="0"/>
              <a:t>Implement PicoRV32 and the configurable accelerator on the </a:t>
            </a:r>
            <a:r>
              <a:rPr lang="en-US" b="1" dirty="0" err="1"/>
              <a:t>Digilent</a:t>
            </a:r>
            <a:r>
              <a:rPr lang="en-US" b="1" dirty="0"/>
              <a:t> </a:t>
            </a:r>
            <a:r>
              <a:rPr lang="en-US" b="1" dirty="0" err="1"/>
              <a:t>Basys</a:t>
            </a:r>
            <a:r>
              <a:rPr lang="en-US" b="1" dirty="0"/>
              <a:t> 3 FPGA with Xilinx Artix-7 XC7A35T</a:t>
            </a:r>
            <a:r>
              <a:rPr lang="en-US" dirty="0"/>
              <a:t>.</a:t>
            </a:r>
          </a:p>
          <a:p>
            <a:endParaRPr lang="en-US" b="1" u="sng" dirty="0"/>
          </a:p>
          <a:p>
            <a:r>
              <a:rPr lang="en-US" dirty="0"/>
              <a:t>Develop the accelerator using </a:t>
            </a:r>
            <a:r>
              <a:rPr lang="en-US" b="1" dirty="0" err="1"/>
              <a:t>SystemVerilog</a:t>
            </a:r>
            <a:r>
              <a:rPr lang="en-US" dirty="0"/>
              <a:t>, with a MAC array, scratchpad, controller/FSM and register interface.</a:t>
            </a:r>
          </a:p>
          <a:p>
            <a:endParaRPr lang="en-US" b="1" u="sng" dirty="0"/>
          </a:p>
          <a:p>
            <a:r>
              <a:rPr lang="en-US" dirty="0"/>
              <a:t>Verify the design using </a:t>
            </a:r>
            <a:r>
              <a:rPr lang="en-US" b="1" dirty="0" err="1"/>
              <a:t>SystemVerilog</a:t>
            </a:r>
            <a:r>
              <a:rPr lang="en-US" b="1" dirty="0"/>
              <a:t>/</a:t>
            </a:r>
            <a:r>
              <a:rPr lang="en-US" b="1" dirty="0" err="1"/>
              <a:t>Cocotb</a:t>
            </a:r>
            <a:r>
              <a:rPr lang="en-US" dirty="0"/>
              <a:t> and evaluate AI kernels such as matrix multiplication, Sobel, Gaussian blur, FIR, dot product and tiny CNN. </a:t>
            </a:r>
            <a:endParaRPr lang="en-IN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A4C257-F0F1-E82A-6F72-53DDBA488C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47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BCCF6-796D-2AF7-523E-F85E2133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C9C9-3B6A-43B1-0F9C-782034242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u="sng" dirty="0"/>
              <a:t>Literature Review :</a:t>
            </a:r>
          </a:p>
          <a:p>
            <a:r>
              <a:rPr lang="en-US" b="1" dirty="0" err="1"/>
              <a:t>RedMulE</a:t>
            </a:r>
            <a:r>
              <a:rPr lang="en-US" dirty="0"/>
              <a:t> demonstrates compact FP16 matrix-multiplication acceleration for RISC-V-based systems.</a:t>
            </a:r>
            <a:endParaRPr lang="en-US" b="1" u="sng" dirty="0"/>
          </a:p>
          <a:p>
            <a:r>
              <a:rPr lang="en-US" b="1" dirty="0"/>
              <a:t>SCAIE-V</a:t>
            </a:r>
            <a:r>
              <a:rPr lang="en-US" dirty="0"/>
              <a:t> provides a scalable interface for integrating custom hardware extensions into RISC-V processors.</a:t>
            </a:r>
          </a:p>
          <a:p>
            <a:r>
              <a:rPr lang="en-US" b="1" dirty="0"/>
              <a:t>CIDRE and related studies</a:t>
            </a:r>
            <a:r>
              <a:rPr lang="en-US" dirty="0"/>
              <a:t> demonstrate the performance benefits of custom instructions, while leaving a gap in systematic configurable FPGA evaluation.</a:t>
            </a:r>
          </a:p>
          <a:p>
            <a:endParaRPr lang="en-US" dirty="0"/>
          </a:p>
          <a:p>
            <a:r>
              <a:rPr lang="en-IN" b="1" u="sng" dirty="0"/>
              <a:t>Research Gap :</a:t>
            </a:r>
            <a:endParaRPr lang="en-US" dirty="0"/>
          </a:p>
          <a:p>
            <a:r>
              <a:rPr lang="en-US" dirty="0"/>
              <a:t>Existing studies generally focus on individual accelerators, interfaces or workloads; this project evaluates </a:t>
            </a:r>
            <a:r>
              <a:rPr lang="en-US" b="1" dirty="0"/>
              <a:t>MAC count, operand width and benchmark workload together</a:t>
            </a:r>
            <a:r>
              <a:rPr lang="en-US" dirty="0"/>
              <a:t> on FPGA.</a:t>
            </a:r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490809-DAFC-B0E7-D4B9-B9A93BCC58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9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DCA5-D884-6878-1449-DFCF3412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30C8-648B-C426-DE25-465A78FBD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u="sng" dirty="0"/>
              <a:t>Methodology :</a:t>
            </a:r>
          </a:p>
          <a:p>
            <a:endParaRPr lang="en-US" dirty="0"/>
          </a:p>
          <a:p>
            <a:r>
              <a:rPr lang="en-US" b="1" dirty="0"/>
              <a:t>Problem &amp; Requirement Analysis:</a:t>
            </a:r>
            <a:r>
              <a:rPr lang="en-US" dirty="0"/>
              <a:t> Identify scalar execution limitations and define hardware/software requirements.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System Design &amp; Implementation:</a:t>
            </a:r>
            <a:r>
              <a:rPr lang="en-US" dirty="0"/>
              <a:t> Integrate PicoRV32 with the custom-instruction interface, configurable MAC array, scratchpad and controller.</a:t>
            </a:r>
          </a:p>
          <a:p>
            <a:endParaRPr lang="en-US" dirty="0"/>
          </a:p>
          <a:p>
            <a:r>
              <a:rPr lang="en-US" b="1" dirty="0"/>
              <a:t>Verification &amp; Evaluation:</a:t>
            </a:r>
            <a:r>
              <a:rPr lang="en-US" dirty="0"/>
              <a:t> Perform unit, differential, randomized and regression testing, followed by FPGA implementation and performance measurement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3E0E8-7C3D-6A7B-C385-CD59826C71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99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A777-4327-3AEF-78D8-F042AC69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ED0C9-6B66-1CA1-025B-E26BFA137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3794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dirty="0"/>
              <a:t>Proposed architecture — configurable AI acceleration extension for an embedded RISC-V processor on FPGA.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3B478-04D9-8D16-1FB3-0E9421F8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082" y="857250"/>
            <a:ext cx="882015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AD7598-7E96-CECD-3443-1A8FE4134A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21B42107-DB39-0939-2C27-193BFB171D1B}"/>
              </a:ext>
            </a:extLst>
          </p:cNvPr>
          <p:cNvSpPr txBox="1">
            <a:spLocks/>
          </p:cNvSpPr>
          <p:nvPr/>
        </p:nvSpPr>
        <p:spPr>
          <a:xfrm>
            <a:off x="481318" y="350023"/>
            <a:ext cx="10515600" cy="597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/>
              <a:t>FLOW CHART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6743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E1D26-FF11-A29F-BDAA-4E75D6A0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811E-BE02-E68C-3D9B-77EFB4071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Expected Outcomes :</a:t>
            </a:r>
          </a:p>
          <a:p>
            <a:endParaRPr lang="en-US" dirty="0"/>
          </a:p>
          <a:p>
            <a:r>
              <a:rPr lang="en-US" dirty="0"/>
              <a:t>Develop a functional configurable AI accelerator with verified custom instructions and benchmark programs.</a:t>
            </a:r>
          </a:p>
          <a:p>
            <a:r>
              <a:rPr lang="en-US" dirty="0"/>
              <a:t>Generate FPGA implementations for </a:t>
            </a:r>
            <a:r>
              <a:rPr lang="en-US" b="1" dirty="0"/>
              <a:t>2/4/8-MAC configurations</a:t>
            </a:r>
            <a:r>
              <a:rPr lang="en-US" dirty="0"/>
              <a:t> with timing, area and power reports.</a:t>
            </a:r>
          </a:p>
          <a:p>
            <a:r>
              <a:rPr lang="en-US" dirty="0"/>
              <a:t>Demonstrate an expected </a:t>
            </a:r>
            <a:r>
              <a:rPr lang="en-US" b="1" dirty="0"/>
              <a:t>5–20× speedup</a:t>
            </a:r>
            <a:r>
              <a:rPr lang="en-US" dirty="0"/>
              <a:t> for benchmark kernels with the 8-MAC configuration and analyze speedup–area–power trade-offs.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F17B3-2A81-1A50-C5F3-5ED448FF0A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3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DD7D-E2A4-90B6-1E65-955F8658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4479-0FCB-A1B4-0E1F-E15F59A9C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595589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Financial Arrangements 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C19813-6EF7-4C06-9343-245FBD00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453" y="1851796"/>
            <a:ext cx="3898762" cy="3154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8EEC9C-CCB4-82F5-5CEC-11F1131285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E09333-D56C-F78A-C6DE-54A801B43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613090"/>
              </p:ext>
            </p:extLst>
          </p:nvPr>
        </p:nvGraphicFramePr>
        <p:xfrm>
          <a:off x="817632" y="1481499"/>
          <a:ext cx="7185827" cy="48836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6855">
                  <a:extLst>
                    <a:ext uri="{9D8B030D-6E8A-4147-A177-3AD203B41FA5}">
                      <a16:colId xmlns:a16="http://schemas.microsoft.com/office/drawing/2014/main" val="1972978501"/>
                    </a:ext>
                  </a:extLst>
                </a:gridCol>
                <a:gridCol w="2334055">
                  <a:extLst>
                    <a:ext uri="{9D8B030D-6E8A-4147-A177-3AD203B41FA5}">
                      <a16:colId xmlns:a16="http://schemas.microsoft.com/office/drawing/2014/main" val="3538541219"/>
                    </a:ext>
                  </a:extLst>
                </a:gridCol>
                <a:gridCol w="2018460">
                  <a:extLst>
                    <a:ext uri="{9D8B030D-6E8A-4147-A177-3AD203B41FA5}">
                      <a16:colId xmlns:a16="http://schemas.microsoft.com/office/drawing/2014/main" val="4019525049"/>
                    </a:ext>
                  </a:extLst>
                </a:gridCol>
                <a:gridCol w="1796457">
                  <a:extLst>
                    <a:ext uri="{9D8B030D-6E8A-4147-A177-3AD203B41FA5}">
                      <a16:colId xmlns:a16="http://schemas.microsoft.com/office/drawing/2014/main" val="2946129415"/>
                    </a:ext>
                  </a:extLst>
                </a:gridCol>
              </a:tblGrid>
              <a:tr h="3490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SL.NO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18487"/>
                  </a:ext>
                </a:extLst>
              </a:tr>
              <a:tr h="872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FPGA Development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/>
                        <a:t>Digilent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Basys</a:t>
                      </a:r>
                      <a:r>
                        <a:rPr lang="en-US" dirty="0"/>
                        <a:t> 3 – Xilinx Artix-7 XC7A35T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₹18,000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919352"/>
                  </a:ext>
                </a:extLst>
              </a:tr>
              <a:tr h="11345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Programming &amp; Connection Accessories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USB cable, power adapter, jumper wires, breadboard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₹2,500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133393"/>
                  </a:ext>
                </a:extLst>
              </a:tr>
              <a:tr h="11345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Electronic 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LEDs, resistors, switches, basic prototyping 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₹1,200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989882"/>
                  </a:ext>
                </a:extLst>
              </a:tr>
              <a:tr h="8727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Documentation &amp; Printing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Reports, charts and supporting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₹800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727804"/>
                  </a:ext>
                </a:extLst>
              </a:tr>
              <a:tr h="3490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Grand 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₹22,500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924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704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FC6A-42D1-9186-28EA-76343B8A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72261-02ED-A91B-32EE-C09D19B68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274764"/>
            <a:ext cx="10518058" cy="6312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Duration 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 algn="ctr">
              <a:buNone/>
            </a:pPr>
            <a:r>
              <a:rPr lang="en-US" sz="2400" dirty="0"/>
              <a:t>Expected time line schedule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2C4D8-D177-DFD6-65C7-3AD03C1F15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550" y="43181"/>
            <a:ext cx="1737665" cy="715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D8AB0C-BBC7-5C74-BB2E-BB3FF74FC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817" y="859032"/>
            <a:ext cx="7706945" cy="469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0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4E69-61B3-4B24-70FF-9D9E4FA8F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D84E6-A297-4EB0-29A3-BA02EAC95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F8910A-213E-8AEB-50DB-E1978F325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987014"/>
              </p:ext>
            </p:extLst>
          </p:nvPr>
        </p:nvGraphicFramePr>
        <p:xfrm>
          <a:off x="186193" y="1206609"/>
          <a:ext cx="11891840" cy="3180964"/>
        </p:xfrm>
        <a:graphic>
          <a:graphicData uri="http://schemas.openxmlformats.org/drawingml/2006/table">
            <a:tbl>
              <a:tblPr/>
              <a:tblGrid>
                <a:gridCol w="2972960">
                  <a:extLst>
                    <a:ext uri="{9D8B030D-6E8A-4147-A177-3AD203B41FA5}">
                      <a16:colId xmlns:a16="http://schemas.microsoft.com/office/drawing/2014/main" val="4240422372"/>
                    </a:ext>
                  </a:extLst>
                </a:gridCol>
                <a:gridCol w="2972960">
                  <a:extLst>
                    <a:ext uri="{9D8B030D-6E8A-4147-A177-3AD203B41FA5}">
                      <a16:colId xmlns:a16="http://schemas.microsoft.com/office/drawing/2014/main" val="1164797346"/>
                    </a:ext>
                  </a:extLst>
                </a:gridCol>
                <a:gridCol w="2972960">
                  <a:extLst>
                    <a:ext uri="{9D8B030D-6E8A-4147-A177-3AD203B41FA5}">
                      <a16:colId xmlns:a16="http://schemas.microsoft.com/office/drawing/2014/main" val="527785316"/>
                    </a:ext>
                  </a:extLst>
                </a:gridCol>
                <a:gridCol w="2972960">
                  <a:extLst>
                    <a:ext uri="{9D8B030D-6E8A-4147-A177-3AD203B41FA5}">
                      <a16:colId xmlns:a16="http://schemas.microsoft.com/office/drawing/2014/main" val="2791320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1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Paper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1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Research focus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1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Key contribution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1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Limitation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151334"/>
                  </a:ext>
                </a:extLst>
              </a:tr>
              <a:tr h="84777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 err="1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RedMulE</a:t>
                      </a:r>
                      <a:endParaRPr lang="en-IN" sz="1200" b="0" i="0" dirty="0">
                        <a:solidFill>
                          <a:schemeClr val="tx1"/>
                        </a:solidFill>
                        <a:effectLst/>
                        <a:latin typeface="Mona Sans VF"/>
                      </a:endParaRP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Matrix multiplication acceleration on RISC-V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Shows a compact, configurable FP16 accelerator for better speed and energy efficiency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Mainly focused on matrix multiply, not full FPGA trade-off study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905913"/>
                  </a:ext>
                </a:extLst>
              </a:tr>
              <a:tr h="60555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SCAIE-V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Custom ISA interface for RISC-V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Provides a scalable interface for adding hardware extensions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It is an interface design, not a complete AI accelerator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66393"/>
                  </a:ext>
                </a:extLst>
              </a:tr>
              <a:tr h="60555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Analog AI Hardware Review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Analog AI hardware for neural networks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Reviews energy-efficient </a:t>
                      </a:r>
                      <a:r>
                        <a:rPr lang="en-IN" sz="1200" b="0" i="0" dirty="0" err="1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analog</a:t>
                      </a: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 AI hardware trends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It is only a review, no implementation or FPGA results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729006"/>
                  </a:ext>
                </a:extLst>
              </a:tr>
              <a:tr h="847771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CIDRE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Custom instruction design for RISC-V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Shows that custom instructions can improve performance with small area cost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  <a:buNone/>
                      </a:pPr>
                      <a:r>
                        <a:rPr lang="en-IN" sz="1200" b="0" i="0" dirty="0">
                          <a:solidFill>
                            <a:schemeClr val="tx1"/>
                          </a:solidFill>
                          <a:effectLst/>
                          <a:latin typeface="Mona Sans VF"/>
                        </a:rPr>
                        <a:t>It does not directly study a configurable FPGA accelerator</a:t>
                      </a:r>
                    </a:p>
                  </a:txBody>
                  <a:tcPr marL="99060" marR="99060" anchor="ctr">
                    <a:lnL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767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9664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92E67C6-E153-DA9E-949E-AB4D7E7F95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65514-D321-664C-0426-EBF4FCC375E6}"/>
              </a:ext>
            </a:extLst>
          </p:cNvPr>
          <p:cNvSpPr txBox="1">
            <a:spLocks/>
          </p:cNvSpPr>
          <p:nvPr/>
        </p:nvSpPr>
        <p:spPr>
          <a:xfrm>
            <a:off x="481318" y="350023"/>
            <a:ext cx="10515600" cy="597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/>
              <a:t>RESEARCH GAP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0082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E953-3B7B-1692-5B7C-C4DF4595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8B0F-3A65-05E4-12C9-FFB5AC0AC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868"/>
            <a:ext cx="10515600" cy="51482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u="sng" dirty="0"/>
              <a:t>References :</a:t>
            </a:r>
          </a:p>
          <a:p>
            <a:endParaRPr lang="en-US" dirty="0"/>
          </a:p>
          <a:p>
            <a:r>
              <a:rPr lang="en-IN" dirty="0"/>
              <a:t>[1] Y. Tortorella, L. </a:t>
            </a:r>
            <a:r>
              <a:rPr lang="en-IN" dirty="0" err="1"/>
              <a:t>Bertaccini</a:t>
            </a:r>
            <a:r>
              <a:rPr lang="en-IN" dirty="0"/>
              <a:t>, D. Rossi, L. Benini, and F. Conti, “</a:t>
            </a:r>
            <a:r>
              <a:rPr lang="en-IN" dirty="0" err="1"/>
              <a:t>RedMulE</a:t>
            </a:r>
            <a:r>
              <a:rPr lang="en-IN" dirty="0"/>
              <a:t>: A compact FP16 matrix-multiplication accelerator for adaptive deep learning on RISC-V-based ultra-low-power SoCs,” in Proc. IEEE/ACM Int. Symp. Low Power Electronics and Design (ISLPED), Boston, MA, USA, 2022, pp. 1–6.</a:t>
            </a:r>
          </a:p>
          <a:p>
            <a:r>
              <a:rPr lang="en-IN" dirty="0"/>
              <a:t>[2] M. Damian, J. Oppermann, C. Spang, and A. Koch, “SCAIE-V: An open-source scalable interface for ISA extensions for RISC-V processors,” in Proc. 59th ACM/IEEE Design Automation Conf. (DAC), San Francisco, CA, USA, 2022, pp. 1–6. </a:t>
            </a:r>
            <a:r>
              <a:rPr lang="en-IN" dirty="0" err="1"/>
              <a:t>doi</a:t>
            </a:r>
            <a:r>
              <a:rPr lang="en-IN" dirty="0"/>
              <a:t>: 10.1145/3489517.3530432.</a:t>
            </a:r>
          </a:p>
          <a:p>
            <a:r>
              <a:rPr lang="en-IN" dirty="0"/>
              <a:t>[3] K. S. Gorde, S. M. Sonavane, S. Hutke, and A. Hutke, “Analog artificial intelligence hardware for neural networks: Design trends and considerations,” Bull. </a:t>
            </a:r>
            <a:r>
              <a:rPr lang="en-IN" dirty="0" err="1"/>
              <a:t>Electr</a:t>
            </a:r>
            <a:r>
              <a:rPr lang="en-IN" dirty="0"/>
              <a:t>. Eng. Inform., vol. 14, no. 6, pp. 4399–4410, Dec. 2025. </a:t>
            </a:r>
            <a:r>
              <a:rPr lang="en-IN" dirty="0" err="1"/>
              <a:t>doi</a:t>
            </a:r>
            <a:r>
              <a:rPr lang="en-IN" dirty="0"/>
              <a:t>: 10.11591/eei.v14i6.10842.</a:t>
            </a:r>
          </a:p>
          <a:p>
            <a:r>
              <a:rPr lang="en-IN" dirty="0"/>
              <a:t>[4] E. </a:t>
            </a:r>
            <a:r>
              <a:rPr lang="en-IN" dirty="0" err="1"/>
              <a:t>Rezunov</a:t>
            </a:r>
            <a:r>
              <a:rPr lang="en-IN" dirty="0"/>
              <a:t>, N. </a:t>
            </a:r>
            <a:r>
              <a:rPr lang="en-IN" dirty="0" err="1"/>
              <a:t>Zurstraßen</a:t>
            </a:r>
            <a:r>
              <a:rPr lang="en-IN" dirty="0"/>
              <a:t>, L. M. Reimann, and R. </a:t>
            </a:r>
            <a:r>
              <a:rPr lang="en-IN" dirty="0" err="1"/>
              <a:t>Leupers</a:t>
            </a:r>
            <a:r>
              <a:rPr lang="en-IN" dirty="0"/>
              <a:t>, “Automatic microarchitecture-aware custom instruction design for RISC-V processors,” in Proc. IEEE/ACM Int. Conf. Computer-Aided Design (ICCAD), Munich, Germany, 2025, pp. 1–9. </a:t>
            </a:r>
            <a:r>
              <a:rPr lang="en-IN" dirty="0" err="1"/>
              <a:t>doi</a:t>
            </a:r>
            <a:r>
              <a:rPr lang="en-IN" dirty="0"/>
              <a:t>: 10.1109/ICCAD66269.2025.11240781.</a:t>
            </a:r>
          </a:p>
          <a:p>
            <a:r>
              <a:rPr lang="en-US" dirty="0"/>
              <a:t>[5] P. Warden and D. </a:t>
            </a:r>
            <a:r>
              <a:rPr lang="en-US" dirty="0" err="1"/>
              <a:t>Situnayake</a:t>
            </a:r>
            <a:r>
              <a:rPr lang="en-US" dirty="0"/>
              <a:t>, </a:t>
            </a:r>
            <a:r>
              <a:rPr lang="en-US" i="1" dirty="0" err="1"/>
              <a:t>TinyML</a:t>
            </a:r>
            <a:r>
              <a:rPr lang="en-US" i="1" dirty="0"/>
              <a:t>: Machine Learning with TensorFlow Lite on Arduino and Ultra-Low-Power Microcontrollers</a:t>
            </a:r>
            <a:r>
              <a:rPr lang="en-US" dirty="0"/>
              <a:t>. Sebastopol, CA, USA: O’Reilly Media, 2021.</a:t>
            </a:r>
          </a:p>
          <a:p>
            <a:r>
              <a:rPr lang="en-US" dirty="0"/>
              <a:t>[6] A. Waterman and K. </a:t>
            </a:r>
            <a:r>
              <a:rPr lang="en-US" dirty="0" err="1"/>
              <a:t>Asanović</a:t>
            </a:r>
            <a:r>
              <a:rPr lang="en-US" dirty="0"/>
              <a:t>, </a:t>
            </a:r>
            <a:r>
              <a:rPr lang="en-US" i="1" dirty="0"/>
              <a:t>The RISC-V Instruction Set Manual</a:t>
            </a:r>
            <a:r>
              <a:rPr lang="en-US" dirty="0"/>
              <a:t>. Berkeley, CA, USA: CS Division, Univ. California, 2017.</a:t>
            </a:r>
          </a:p>
          <a:p>
            <a:r>
              <a:rPr lang="en-US" dirty="0"/>
              <a:t>[7] Xilinx, Inc., </a:t>
            </a:r>
            <a:r>
              <a:rPr lang="en-US" i="1" dirty="0"/>
              <a:t>7 Series FPGAs Data Sheet: Overview</a:t>
            </a:r>
            <a:r>
              <a:rPr lang="en-US" dirty="0"/>
              <a:t>. San Jose, CA, USA, 2023.</a:t>
            </a:r>
          </a:p>
          <a:p>
            <a:r>
              <a:rPr lang="en-US" dirty="0"/>
              <a:t>[8] </a:t>
            </a:r>
            <a:r>
              <a:rPr lang="en-US" dirty="0" err="1"/>
              <a:t>Digilent</a:t>
            </a:r>
            <a:r>
              <a:rPr lang="en-US" dirty="0"/>
              <a:t>, Inc., </a:t>
            </a:r>
            <a:r>
              <a:rPr lang="en-US" i="1" dirty="0" err="1"/>
              <a:t>Basys</a:t>
            </a:r>
            <a:r>
              <a:rPr lang="en-US" i="1" dirty="0"/>
              <a:t> 3 Artix-7 FPGA Trainer Board Reference Manual</a:t>
            </a:r>
            <a:r>
              <a:rPr lang="en-US" dirty="0"/>
              <a:t>. Pullman, WA, USA, 2020.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u="sng" dirty="0"/>
          </a:p>
          <a:p>
            <a:pPr marL="0" indent="0">
              <a:buNone/>
            </a:pP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285AB-F585-3721-BBBF-B59198AC4B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36" y="43181"/>
            <a:ext cx="2195879" cy="904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20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1063</Words>
  <Application>Microsoft Office PowerPoint</Application>
  <PresentationFormat>Widescreen</PresentationFormat>
  <Paragraphs>142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Mona Sans VF</vt:lpstr>
      <vt:lpstr>Office Theme</vt:lpstr>
      <vt:lpstr>KL Deemed to be University Aziz Nagar Campus Department of ECE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 Deemed to be University Aziz Nagar Campus Department of ECE</dc:title>
  <dc:creator>klh</dc:creator>
  <cp:lastModifiedBy>Sayooj S</cp:lastModifiedBy>
  <cp:revision>9</cp:revision>
  <dcterms:created xsi:type="dcterms:W3CDTF">2026-08-01T05:22:34Z</dcterms:created>
  <dcterms:modified xsi:type="dcterms:W3CDTF">2026-10-03T03:15:04Z</dcterms:modified>
</cp:coreProperties>
</file>