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48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00D05-D64B-4B26-8645-73FFE0530FB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8422A-1EF3-4659-B35B-3579AACF4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5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0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BD86-E399-CF9D-162F-B3D2540C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716C2-C562-1240-129F-14AC7DE22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0E2D7-7555-D150-9A92-A205BC907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F097F-730F-DE6C-C2ED-605B2619C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6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CE8B-1E0A-6F1B-2C74-E3C7664C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BCD76-DA05-1185-C5B4-41F60BD81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2593D-247A-68A7-E6B0-177E802D0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F4D9C-94B0-13CF-6B1C-0A0746DE3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21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9697-C064-8266-C132-21EC07DD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4ADF8-3BEB-22AE-891C-981E3604F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6C0D5-8EAA-13D2-DF10-CFDE55281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90A98-0FF9-F1AB-81FA-C7C5EAFCE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18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B7A1-02B0-53C5-AC85-44AD9287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25D07-3E20-7312-02A7-D532B90A5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0E339-0136-AEF5-3000-29B3C07FF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CB928-0749-A95A-E274-0F01602C0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60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FE10-4C27-938B-26D9-E87FBF75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F1EDD-D2A2-5D5C-C29D-78C99E7B5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CBD2-0D40-0536-E0DE-69BB4C41C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62941-E51C-DAC7-51CD-0983BFE95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36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1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4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28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03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0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5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91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07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73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7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74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5EEB8-E1AF-425F-BC9A-124B22783B7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06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9076" y="495273"/>
            <a:ext cx="9144000" cy="285681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KL Deemed to be University</a:t>
            </a:r>
            <a:br>
              <a:rPr lang="en-IN" b="1" dirty="0"/>
            </a:br>
            <a:r>
              <a:rPr lang="en-IN" b="1" dirty="0"/>
              <a:t>Aziz Nagar Campus</a:t>
            </a:r>
            <a:br>
              <a:rPr lang="en-IN" b="1" dirty="0"/>
            </a:br>
            <a:br>
              <a:rPr lang="en-IN" b="1" dirty="0"/>
            </a:br>
            <a:r>
              <a:rPr lang="en-IN" sz="4000" b="1" dirty="0"/>
              <a:t>Department of ECE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944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2nd Review</a:t>
            </a:r>
          </a:p>
          <a:p>
            <a:endParaRPr lang="en-IN" dirty="0"/>
          </a:p>
          <a:p>
            <a:r>
              <a:rPr lang="en-IN" dirty="0"/>
              <a:t>MD Sameer Ahmed - 2310040004 </a:t>
            </a:r>
          </a:p>
          <a:p>
            <a:r>
              <a:rPr lang="en-IN" dirty="0"/>
              <a:t>Sayooj S - 2310040095 </a:t>
            </a:r>
          </a:p>
          <a:p>
            <a:endParaRPr lang="en-IN" dirty="0"/>
          </a:p>
          <a:p>
            <a:r>
              <a:rPr lang="en-IN" dirty="0"/>
              <a:t>Supervised by:</a:t>
            </a:r>
          </a:p>
          <a:p>
            <a:r>
              <a:rPr lang="en-IN" dirty="0"/>
              <a:t>Dr. </a:t>
            </a:r>
            <a:r>
              <a:rPr lang="en-US" dirty="0" err="1"/>
              <a:t>Ngangbam</a:t>
            </a:r>
            <a:r>
              <a:rPr lang="en-US" dirty="0"/>
              <a:t> Phalguni Singh</a:t>
            </a:r>
            <a:r>
              <a:rPr lang="en-IN" dirty="0"/>
              <a:t>, Assoc. </a:t>
            </a:r>
            <a:r>
              <a:rPr lang="en-IN" dirty="0" err="1"/>
              <a:t>Prof.</a:t>
            </a:r>
            <a:r>
              <a:rPr lang="en-IN" dirty="0"/>
              <a:t>/ECE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1" y="82428"/>
            <a:ext cx="1926615" cy="8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Introduction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Edge AI applications require efficient processors for fast, low-power computation on embedded devices.</a:t>
            </a:r>
          </a:p>
          <a:p>
            <a:endParaRPr lang="en-US" b="1" u="sng" dirty="0"/>
          </a:p>
          <a:p>
            <a:r>
              <a:rPr lang="en-US" dirty="0"/>
              <a:t>RISC-V enables customizable processor architectures through flexible instruction set extensions and open-source designs.</a:t>
            </a:r>
          </a:p>
          <a:p>
            <a:endParaRPr lang="en-US" b="1" u="sng" dirty="0"/>
          </a:p>
          <a:p>
            <a:r>
              <a:rPr lang="en-US" dirty="0"/>
              <a:t>This project develops a configurable FPGA-based AI accelerator integrated with a PicoRV32 RISC-V processor. 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5E662-4B6E-30C7-5C40-39EFAE321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5EF6C-49A8-8506-E930-F8AE28A2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248B9-95FC-9926-C988-B79FCF550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Problem Statement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Embedded RISC-V processors execute AI workloads with high latency and limited computational efficiency.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Software execution of matrix operations increases execution cycles, power consumption, and processing time.</a:t>
            </a:r>
          </a:p>
          <a:p>
            <a:endParaRPr lang="en-US" b="1" u="sng" dirty="0"/>
          </a:p>
          <a:p>
            <a:r>
              <a:rPr lang="en-US" dirty="0"/>
              <a:t>Configurable hardware acceleration is required for efficient AI processing in embedded systems.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922F8-A65E-DDA2-EABF-E7C3622FC3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3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1F41-C265-4A75-42DE-77BCB996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F1817-2BE8-BD3E-AC45-4DC3F5E45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Objectives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Design a configurable MAC-based accelerator for an embedded PicoRV32 RISC-V processor.</a:t>
            </a:r>
          </a:p>
          <a:p>
            <a:endParaRPr lang="en-US" b="1" u="sng" dirty="0"/>
          </a:p>
          <a:p>
            <a:r>
              <a:rPr lang="en-US" dirty="0"/>
              <a:t>Integrate custom RISC-V instructions to accelerate AI-oriented computational kernels efficiently.</a:t>
            </a:r>
          </a:p>
          <a:p>
            <a:endParaRPr lang="en-US" b="1" u="sng" dirty="0"/>
          </a:p>
          <a:p>
            <a:r>
              <a:rPr lang="en-US" dirty="0"/>
              <a:t>Evaluate performance, area, and power across multiple FPGA accelerator configurations.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DFF81-1842-7761-80DD-D2D35A36A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1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FA90-97D3-2553-B829-AE8DCA40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0A3D6-8BB3-F846-DC79-E2304D8F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Scope of the Project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Develop a configurable AI accelerator integrated with the PicoRV32 RISC-V processor on FPGA.</a:t>
            </a:r>
          </a:p>
          <a:p>
            <a:endParaRPr lang="en-US" b="1" u="sng" dirty="0"/>
          </a:p>
          <a:p>
            <a:r>
              <a:rPr lang="en-US" dirty="0"/>
              <a:t>Implement and verify custom instructions using </a:t>
            </a:r>
            <a:r>
              <a:rPr lang="en-US" dirty="0" err="1"/>
              <a:t>SystemVerilog</a:t>
            </a:r>
            <a:r>
              <a:rPr lang="en-US" dirty="0"/>
              <a:t> through simulation and hardware testing.</a:t>
            </a:r>
          </a:p>
          <a:p>
            <a:endParaRPr lang="en-US" b="1" u="sng" dirty="0"/>
          </a:p>
          <a:p>
            <a:r>
              <a:rPr lang="en-US" dirty="0"/>
              <a:t>Evaluate performance, resource utilization, and power across multiple accelerator configurations. 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FEED6-2302-9D07-43C6-E8452A9C10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4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BCCF6-796D-2AF7-523E-F85E2133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C9C9-3B6A-43B1-0F9C-782034242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Literature Review :</a:t>
            </a:r>
          </a:p>
          <a:p>
            <a:r>
              <a:rPr lang="en-US" dirty="0"/>
              <a:t>Studied existing RISC-V processors and custom instruction extension techniques.</a:t>
            </a:r>
            <a:endParaRPr lang="en-US" b="1" u="sng" dirty="0"/>
          </a:p>
          <a:p>
            <a:r>
              <a:rPr lang="en-US" dirty="0"/>
              <a:t>Reviewed hardware accelerator architectures for AI and embedded computing applications.</a:t>
            </a:r>
          </a:p>
          <a:p>
            <a:endParaRPr lang="en-US" dirty="0"/>
          </a:p>
          <a:p>
            <a:r>
              <a:rPr lang="en-IN" b="1" u="sng" dirty="0"/>
              <a:t>Research Gap :</a:t>
            </a:r>
            <a:endParaRPr lang="en-US" dirty="0"/>
          </a:p>
          <a:p>
            <a:r>
              <a:rPr lang="en-US" dirty="0"/>
              <a:t>Existing AI accelerators lack flexibility for different embedded application requirements.</a:t>
            </a:r>
          </a:p>
          <a:p>
            <a:r>
              <a:rPr lang="en-US" dirty="0"/>
              <a:t>Efficient custom instruction integration for embedded AI applications requires further investigation. </a:t>
            </a:r>
          </a:p>
          <a:p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AC6C2-7467-6E60-1425-DC55C6683E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9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DCA5-D884-6878-1449-DFCF3412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30C8-648B-C426-DE25-465A78FBD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Methodology :</a:t>
            </a:r>
          </a:p>
          <a:p>
            <a:endParaRPr lang="en-US" dirty="0"/>
          </a:p>
          <a:p>
            <a:r>
              <a:rPr lang="en-US" dirty="0"/>
              <a:t>Initialize PicoRV32 processor with firmware and custom instruction support.</a:t>
            </a:r>
          </a:p>
          <a:p>
            <a:endParaRPr lang="en-US" dirty="0"/>
          </a:p>
          <a:p>
            <a:r>
              <a:rPr lang="en-US" dirty="0"/>
              <a:t>Decode instructions and dispatch AI operations to the configurable MAC accelerator.</a:t>
            </a:r>
          </a:p>
          <a:p>
            <a:endParaRPr lang="en-US" dirty="0"/>
          </a:p>
          <a:p>
            <a:r>
              <a:rPr lang="en-US" dirty="0"/>
              <a:t>Verify functionality and evaluate performance using simulation and FPGA implementation.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85962-1BA2-B80F-DFA0-94786BFCB6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9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A777-4327-3AEF-78D8-F042AC69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ED0C9-6B66-1CA1-025B-E26BFA137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019" y="540456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dirty="0"/>
              <a:t>Proposed architecture — configurable AI acceleration extension for an embedded RISC-V processor on FPGA.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3B478-04D9-8D16-1FB3-0E9421F8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280" y="109998"/>
            <a:ext cx="882015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9305CA-06E0-53EB-1DF8-10D49B53B1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3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E1D26-FF11-A29F-BDAA-4E75D6A0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811E-BE02-E68C-3D9B-77EFB4071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Expected Outcomes :</a:t>
            </a:r>
          </a:p>
          <a:p>
            <a:endParaRPr lang="en-US" dirty="0"/>
          </a:p>
          <a:p>
            <a:r>
              <a:rPr lang="en-US" dirty="0"/>
              <a:t>Develop a configurable AI accelerator integrated with the PicoRV32 RISC-V processor.</a:t>
            </a:r>
          </a:p>
          <a:p>
            <a:endParaRPr lang="en-US" dirty="0"/>
          </a:p>
          <a:p>
            <a:r>
              <a:rPr lang="en-US" dirty="0"/>
              <a:t>Demonstrate improved performance using custom instructions and hardware acceleration on FPGA.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speed, area, and power trade-offs across multiple accelerator configurations.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98209-91D8-BD0F-112B-E9B82B1F11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3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DD7D-E2A4-90B6-1E65-955F8658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4479-0FCB-A1B4-0E1F-E15F59A9C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5955890" cy="585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Financial Arrangements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E018F-4D1A-8D34-84AB-227E869E7E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8186FB-165F-808B-50D3-60AE244DA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87" y="1960235"/>
            <a:ext cx="10712826" cy="40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04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FC6A-42D1-9186-28EA-76343B8A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72261-02ED-A91B-32EE-C09D19B68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274764"/>
            <a:ext cx="10518058" cy="6312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Duration 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 algn="ctr">
              <a:buNone/>
            </a:pPr>
            <a:r>
              <a:rPr lang="en-US" sz="2400" dirty="0"/>
              <a:t>Expected time line schedule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C81DA-14F0-B3A6-25C3-812C59785A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9A7274-E653-98E1-9D01-81F27D4BC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120" y="947365"/>
            <a:ext cx="7898505" cy="480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0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E953-3B7B-1692-5B7C-C4DF4595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8B0F-3A65-05E4-12C9-FFB5AC0AC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References :</a:t>
            </a:r>
          </a:p>
          <a:p>
            <a:endParaRPr lang="en-US" dirty="0"/>
          </a:p>
          <a:p>
            <a:r>
              <a:rPr lang="en-US" sz="2000" dirty="0"/>
              <a:t>E. </a:t>
            </a:r>
            <a:r>
              <a:rPr lang="en-US" sz="2000" dirty="0" err="1"/>
              <a:t>Rezunov</a:t>
            </a:r>
            <a:r>
              <a:rPr lang="en-US" sz="2000" dirty="0"/>
              <a:t>, N. </a:t>
            </a:r>
            <a:r>
              <a:rPr lang="en-US" sz="2000" dirty="0" err="1"/>
              <a:t>Zurstraßen</a:t>
            </a:r>
            <a:r>
              <a:rPr lang="en-US" sz="2000" dirty="0"/>
              <a:t>, L. M. Reimann, and R. </a:t>
            </a:r>
            <a:r>
              <a:rPr lang="en-US" sz="2000" dirty="0" err="1"/>
              <a:t>Leupers</a:t>
            </a:r>
            <a:r>
              <a:rPr lang="en-US" sz="2000" dirty="0"/>
              <a:t>, "Automatic Microarchitecture-Aware Custom Instruction Design for RISC-V Processors," in Proc. IEEE/ACM Int. Conf. Computer-Aided Design (ICCAD), Munich, Germany, 2025, pp. 1–9. </a:t>
            </a:r>
            <a:r>
              <a:rPr lang="en-US" sz="2000" dirty="0" err="1"/>
              <a:t>doi</a:t>
            </a:r>
            <a:r>
              <a:rPr lang="en-US" sz="2000" dirty="0"/>
              <a:t>: 10.1109/ICCAD66269.2025.11240781.</a:t>
            </a:r>
          </a:p>
          <a:p>
            <a:endParaRPr lang="en-US" sz="2000" dirty="0"/>
          </a:p>
          <a:p>
            <a:r>
              <a:rPr lang="en-US" sz="2000" dirty="0"/>
              <a:t>K. S. Gorde, S. M. Sonavane, S. Hutke, and A. Hutke, "Analog artificial intelligence hardware for neural networks: Design trends and considerations," Bulletin of Electrical Engineering and Informatics, vol. 14, no. 6, pp. 4399–4410, Dec. 2025. </a:t>
            </a:r>
            <a:r>
              <a:rPr lang="en-US" sz="2000" dirty="0" err="1"/>
              <a:t>doi</a:t>
            </a:r>
            <a:r>
              <a:rPr lang="en-US" sz="2000" dirty="0"/>
              <a:t>: 10.11591/eei.v14i6.10842.</a:t>
            </a:r>
          </a:p>
          <a:p>
            <a:endParaRPr lang="en-US" sz="2000" dirty="0"/>
          </a:p>
          <a:p>
            <a:r>
              <a:rPr lang="en-US" sz="2400" dirty="0"/>
              <a:t> </a:t>
            </a:r>
            <a:r>
              <a:rPr lang="en-US" sz="2000" dirty="0"/>
              <a:t>M. Damian, J. Oppermann, C. Spang, and A. Koch, "SCAIE-V: An Open-Source </a:t>
            </a:r>
            <a:r>
              <a:rPr lang="en-US" sz="2000" dirty="0" err="1"/>
              <a:t>SCAlable</a:t>
            </a:r>
            <a:r>
              <a:rPr lang="en-US" sz="2000" dirty="0"/>
              <a:t> Interface for ISA Extensions for RISC-V Processors," in Proc. 59th ACM/IEEE Design Automation Conf. (DAC), San Francisco, CA, USA, 2022, pp. 1–6. </a:t>
            </a:r>
            <a:r>
              <a:rPr lang="en-US" sz="2000" dirty="0" err="1"/>
              <a:t>doi</a:t>
            </a:r>
            <a:r>
              <a:rPr lang="en-US" sz="2000" dirty="0"/>
              <a:t>: 10.1145/3489517.3530432.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72D536-475D-9BCA-7DE6-1EE1B22531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20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560</Words>
  <Application>Microsoft Office PowerPoint</Application>
  <PresentationFormat>Widescreen</PresentationFormat>
  <Paragraphs>95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KL Deemed to be University Aziz Nagar Campus  Department of ECE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 Deemed to be University Aziz Nagar Campus Department of ECE</dc:title>
  <dc:creator>klh</dc:creator>
  <cp:lastModifiedBy>Sayooj S</cp:lastModifiedBy>
  <cp:revision>5</cp:revision>
  <dcterms:created xsi:type="dcterms:W3CDTF">2026-08-01T05:22:34Z</dcterms:created>
  <dcterms:modified xsi:type="dcterms:W3CDTF">2026-10-02T15:42:01Z</dcterms:modified>
</cp:coreProperties>
</file>